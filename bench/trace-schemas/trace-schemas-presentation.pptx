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344"/>
                </a:solidFill>
                <a:latin typeface="DejaVu Sans"/>
              </a:rPr>
              <a:t>bench/trace-schemas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6270"/>
                </a:solidFill>
                <a:latin typeface="DejaVu Sans"/>
              </a:rPr>
              <a:t>General idea, folder layout, and overrides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078992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9875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C5CC5"/>
                </a:solidFill>
                <a:latin typeface="DejaVu Sans"/>
              </a:rPr>
              <a:t>Purpose</a:t>
            </a:r>
          </a:p>
          <a:p>
            <a:pPr>
              <a:defRPr sz="2400">
                <a:solidFill>
                  <a:srgbClr val="2D3440"/>
                </a:solidFill>
                <a:latin typeface="DejaVu Sans"/>
              </a:defRPr>
            </a:pPr>
            <a:r>
              <a:t>Turn Cardano node trace namespaces into JSON Schemas so tracing is documented, structured, and automatically verifiable.</a:t>
            </a:r>
          </a:p>
          <a:p>
            <a:pPr>
              <a:defRPr sz="1900">
                <a:solidFill>
                  <a:srgbClr val="5A6270"/>
                </a:solidFill>
                <a:latin typeface="DejaVu Sans"/>
              </a:defRPr>
            </a:pPr>
            <a:r>
              <a:t>Main flow: discover namespaces, generate schemas, apply human patches, validate.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6270"/>
                </a:solidFill>
                <a:latin typeface="DejaVu Sans"/>
              </a:rPr>
              <a:t>Source: bench/trace-schemas in this repository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344"/>
                </a:solidFill>
                <a:latin typeface="DejaVu Sans"/>
              </a:rPr>
              <a:t>1. General Idea And Construction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6270"/>
                </a:solidFill>
                <a:latin typeface="DejaVu Sans"/>
              </a:rPr>
              <a:t>Entry point: scripts/schema-gen/RegenerateTraceSchemas.sh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440"/>
                </a:solidFill>
                <a:latin typeface="DejaVu Sans"/>
              </a:defRPr>
            </a:pPr>
            <a:r>
              <a:t>Runs `cardano-node trace-documentation` to generate `newNamespaces.txt` and `trace-documentation.md`.</a:t>
            </a:r>
          </a:p>
          <a:p>
            <a:pPr>
              <a:spcAft>
                <a:spcPts val="1000"/>
              </a:spcAft>
              <a:defRPr sz="2000">
                <a:solidFill>
                  <a:srgbClr val="2D3440"/>
                </a:solidFill>
                <a:latin typeface="DejaVu Sans"/>
              </a:defRPr>
            </a:pPr>
            <a:r>
              <a:t>Runs `GhciSchemaGen.hs` to scan Haskell source, parse `namespaceFor` and `forMachine`, and infer field types through GHCi.</a:t>
            </a:r>
          </a:p>
          <a:p>
            <a:pPr>
              <a:spcAft>
                <a:spcPts val="1000"/>
              </a:spcAft>
              <a:defRPr sz="2000">
                <a:solidFill>
                  <a:srgbClr val="2D3440"/>
                </a:solidFill>
                <a:latin typeface="DejaVu Sans"/>
              </a:defRPr>
            </a:pPr>
            <a:r>
              <a:t>Runs `ApplySchemaOverrides.hs` so human-maintained changes survive regeneration.</a:t>
            </a:r>
          </a:p>
          <a:p>
            <a:pPr>
              <a:spcAft>
                <a:spcPts val="1000"/>
              </a:spcAft>
              <a:defRPr sz="2000">
                <a:solidFill>
                  <a:srgbClr val="2D3440"/>
                </a:solidFill>
                <a:latin typeface="DejaVu Sans"/>
              </a:defRPr>
            </a:pPr>
            <a:r>
              <a:t>Runs `ValidateTraceSchemas.hs` to check generated message schemas against `meta.schema.json`.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6270"/>
                </a:solidFill>
                <a:latin typeface="DejaVu Sans"/>
              </a:rPr>
              <a:t>Pipeline: discover -&gt; generate -&gt; override -&gt; validate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344"/>
                </a:solidFill>
                <a:latin typeface="DejaVu Sans"/>
              </a:rPr>
              <a:t>2. Folders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6270"/>
                </a:solidFill>
                <a:latin typeface="DejaVu Sans"/>
              </a:rPr>
              <a:t>Generated outputs, support files, and tooling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74320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00784"/>
            <a:ext cx="2340864" cy="3182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C5CC5"/>
                </a:solidFill>
                <a:latin typeface="DejaVu Sans"/>
              </a:rPr>
              <a:t>messages/</a:t>
            </a:r>
          </a:p>
          <a:p>
            <a:pPr>
              <a:spcAft>
                <a:spcPts val="600"/>
              </a:spcAft>
              <a:defRPr sz="1500">
                <a:solidFill>
                  <a:srgbClr val="2D3440"/>
                </a:solidFill>
                <a:latin typeface="DejaVu Sans"/>
              </a:defRPr>
            </a:pPr>
            <a:r>
              <a:t>Generated schemas for trace message namespaces</a:t>
            </a:r>
          </a:p>
          <a:p>
            <a:pPr>
              <a:spcAft>
                <a:spcPts val="600"/>
              </a:spcAft>
              <a:defRPr sz="1500">
                <a:solidFill>
                  <a:srgbClr val="2D3440"/>
                </a:solidFill>
                <a:latin typeface="DejaVu Sans"/>
              </a:defRPr>
            </a:pPr>
            <a:r>
              <a:t>Organized by areas like Consensus, Net, ChainDB, Startup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3794760" y="1554480"/>
            <a:ext cx="228600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95928" y="1700784"/>
            <a:ext cx="1883664" cy="3182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C5CC5"/>
                </a:solidFill>
                <a:latin typeface="DejaVu Sans"/>
              </a:rPr>
              <a:t>types/</a:t>
            </a:r>
          </a:p>
          <a:p>
            <a:pPr>
              <a:spcAft>
                <a:spcPts val="600"/>
              </a:spcAft>
              <a:defRPr sz="1500">
                <a:solidFill>
                  <a:srgbClr val="2D3440"/>
                </a:solidFill>
                <a:latin typeface="DejaVu Sans"/>
              </a:defRPr>
            </a:pPr>
            <a:r>
              <a:t>Reusable type schemas</a:t>
            </a:r>
          </a:p>
          <a:p>
            <a:pPr>
              <a:spcAft>
                <a:spcPts val="600"/>
              </a:spcAft>
              <a:defRPr sz="1500">
                <a:solidFill>
                  <a:srgbClr val="2D3440"/>
                </a:solidFill>
                <a:latin typeface="DejaVu Sans"/>
              </a:defRPr>
            </a:pPr>
            <a:r>
              <a:t>Shared building blocks used by message schemas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554480"/>
            <a:ext cx="24688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1700784"/>
            <a:ext cx="2066544" cy="3182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C5CC5"/>
                </a:solidFill>
                <a:latin typeface="DejaVu Sans"/>
              </a:rPr>
              <a:t>overrides/</a:t>
            </a:r>
          </a:p>
          <a:p>
            <a:pPr>
              <a:spcAft>
                <a:spcPts val="600"/>
              </a:spcAft>
              <a:defRPr sz="1500">
                <a:solidFill>
                  <a:srgbClr val="2D3440"/>
                </a:solidFill>
                <a:latin typeface="DejaVu Sans"/>
              </a:defRPr>
            </a:pPr>
            <a:r>
              <a:t>Human-maintained patches</a:t>
            </a:r>
          </a:p>
          <a:p>
            <a:pPr>
              <a:spcAft>
                <a:spcPts val="600"/>
              </a:spcAft>
              <a:defRPr sz="1500">
                <a:solidFill>
                  <a:srgbClr val="2D3440"/>
                </a:solidFill>
                <a:latin typeface="DejaVu Sans"/>
              </a:defRPr>
            </a:pPr>
            <a:r>
              <a:t>Mirrors the generated tree for messages and types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1554480"/>
            <a:ext cx="23317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99448" y="1700784"/>
            <a:ext cx="1929384" cy="3182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C5CC5"/>
                </a:solidFill>
                <a:latin typeface="DejaVu Sans"/>
              </a:rPr>
              <a:t>root files</a:t>
            </a:r>
          </a:p>
          <a:p>
            <a:pPr>
              <a:spcAft>
                <a:spcPts val="600"/>
              </a:spcAft>
              <a:defRPr sz="1500">
                <a:solidFill>
                  <a:srgbClr val="2D3440"/>
                </a:solidFill>
                <a:latin typeface="DejaVu Sans"/>
              </a:defRPr>
            </a:pPr>
            <a:r>
              <a:t>`meta.schema.json`</a:t>
            </a:r>
          </a:p>
          <a:p>
            <a:pPr>
              <a:spcAft>
                <a:spcPts val="600"/>
              </a:spcAft>
              <a:defRPr sz="1500">
                <a:solidFill>
                  <a:srgbClr val="2D3440"/>
                </a:solidFill>
                <a:latin typeface="DejaVu Sans"/>
              </a:defRPr>
            </a:pPr>
            <a:r>
              <a:t>`TraceMessage.schema.json`</a:t>
            </a:r>
          </a:p>
          <a:p>
            <a:pPr>
              <a:spcAft>
                <a:spcPts val="600"/>
              </a:spcAft>
              <a:defRPr sz="1500">
                <a:solidFill>
                  <a:srgbClr val="2D3440"/>
                </a:solidFill>
                <a:latin typeface="DejaVu Sans"/>
              </a:defRPr>
            </a:pPr>
            <a:r>
              <a:t>`newNamespaces.txt`</a:t>
            </a:r>
          </a:p>
          <a:p>
            <a:pPr>
              <a:spcAft>
                <a:spcPts val="600"/>
              </a:spcAft>
              <a:defRPr sz="1500">
                <a:solidFill>
                  <a:srgbClr val="2D3440"/>
                </a:solidFill>
                <a:latin typeface="DejaVu Sans"/>
              </a:defRPr>
            </a:pPr>
            <a:r>
              <a:t>`trace-documentation.md`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6270"/>
                </a:solidFill>
                <a:latin typeface="DejaVu Sans"/>
              </a:rPr>
              <a:t>messages and types are generated; overrides is where manual changes belong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344"/>
                </a:solidFill>
                <a:latin typeface="DejaVu Sans"/>
              </a:rPr>
              <a:t>2.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6270"/>
                </a:solidFill>
                <a:latin typeface="DejaVu Sans"/>
              </a:rPr>
              <a:t>What each helper script is responsible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440"/>
                </a:solidFill>
                <a:latin typeface="DejaVu Sans"/>
              </a:defRPr>
            </a:pPr>
            <a:r>
              <a:t>`GhciSchemaGen.hs`: the main generator.</a:t>
            </a:r>
          </a:p>
          <a:p>
            <a:pPr>
              <a:spcAft>
                <a:spcPts val="1000"/>
              </a:spcAft>
              <a:defRPr sz="2000">
                <a:solidFill>
                  <a:srgbClr val="2D3440"/>
                </a:solidFill>
                <a:latin typeface="DejaVu Sans"/>
              </a:defRPr>
            </a:pPr>
            <a:r>
              <a:t>`ApplySchemaOverrides.hs`: applies JSON Merge Patch overrides to generated schemas.</a:t>
            </a:r>
          </a:p>
          <a:p>
            <a:pPr>
              <a:spcAft>
                <a:spcPts val="1000"/>
              </a:spcAft>
              <a:defRPr sz="2000">
                <a:solidFill>
                  <a:srgbClr val="2D3440"/>
                </a:solidFill>
                <a:latin typeface="DejaVu Sans"/>
              </a:defRPr>
            </a:pPr>
            <a:r>
              <a:t>`ValidateTraceSchemas.hs`: validates message schemas with `check-jsonschema` and the local meta-schema.</a:t>
            </a:r>
          </a:p>
          <a:p>
            <a:pPr>
              <a:spcAft>
                <a:spcPts val="1000"/>
              </a:spcAft>
              <a:defRPr sz="2000">
                <a:solidFill>
                  <a:srgbClr val="2D3440"/>
                </a:solidFill>
                <a:latin typeface="DejaVu Sans"/>
              </a:defRPr>
            </a:pPr>
            <a:r>
              <a:t>`ValidateTraceLog.hs`: validates a real cardano-node log against the common envelope and per-namespace schemas.</a:t>
            </a:r>
          </a:p>
          <a:p>
            <a:pPr>
              <a:spcAft>
                <a:spcPts val="1000"/>
              </a:spcAft>
              <a:defRPr sz="2000">
                <a:solidFill>
                  <a:srgbClr val="2D3440"/>
                </a:solidFill>
                <a:latin typeface="DejaVu Sans"/>
              </a:defRPr>
            </a:pPr>
            <a:r>
              <a:t>`CheckOverrideCoverage.hs`: ensures generated changes are matched by corresponding override-sidecar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6270"/>
                </a:solidFill>
                <a:latin typeface="DejaVu Sans"/>
              </a:rPr>
              <a:t>scripts/schema-gen contains generation, checking, and log-validation tooling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344"/>
                </a:solidFill>
                <a:latin typeface="DejaVu Sans"/>
              </a:rPr>
              <a:t>3. Overrides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6270"/>
                </a:solidFill>
                <a:latin typeface="DejaVu Sans"/>
              </a:rPr>
              <a:t>Why they exist and how they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440"/>
                </a:solidFill>
                <a:latin typeface="DejaVu Sans"/>
              </a:defRPr>
            </a:pPr>
            <a:r>
              <a:t>Do not edit files in `messages/` or `types/` directly because regeneration can overwrite them.</a:t>
            </a:r>
          </a:p>
          <a:p>
            <a:pPr>
              <a:spcAft>
                <a:spcPts val="1000"/>
              </a:spcAft>
              <a:defRPr sz="2000">
                <a:solidFill>
                  <a:srgbClr val="2D3440"/>
                </a:solidFill>
                <a:latin typeface="DejaVu Sans"/>
              </a:defRPr>
            </a:pPr>
            <a:r>
              <a:t>Put manual changes in `overrides/messages/...` or `overrides/types/...` with the `.schema.override.json` suffix.</a:t>
            </a:r>
          </a:p>
          <a:p>
            <a:pPr>
              <a:spcAft>
                <a:spcPts val="1000"/>
              </a:spcAft>
              <a:defRPr sz="2000">
                <a:solidFill>
                  <a:srgbClr val="2D3440"/>
                </a:solidFill>
                <a:latin typeface="DejaVu Sans"/>
              </a:defRPr>
            </a:pPr>
            <a:r>
              <a:t>Overrides use JSON Merge Patch semantics: objects merge, arrays replace whole values, and `null` deletes keys.</a:t>
            </a:r>
          </a:p>
          <a:p>
            <a:pPr>
              <a:spcAft>
                <a:spcPts val="1000"/>
              </a:spcAft>
              <a:defRPr sz="2000">
                <a:solidFill>
                  <a:srgbClr val="2D3440"/>
                </a:solidFill>
                <a:latin typeface="DejaVu Sans"/>
              </a:defRPr>
            </a:pPr>
            <a:r>
              <a:t>This keeps generated output reproducible while preserving human decisions in a reviewable 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6270"/>
                </a:solidFill>
                <a:latin typeface="DejaVu Sans"/>
              </a:rPr>
              <a:t>Takeaway: trace-schemas is a generation pipeline with a safe patch layer on top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